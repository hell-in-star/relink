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-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0" y="533400"/>
            <a:ext cx="877824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rand-horizontal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61925"/>
            <a:ext cx="704014" cy="209550"/>
          </a:xfrm>
          <a:prstGeom prst="rect">
            <a:avLst/>
          </a:prstGeom>
        </p:spPr>
      </p:pic>
      <p:sp>
        <p:nvSpPr>
          <p:cNvPr id="6" name="s1-heading-r1"/>
          <p:cNvSpPr txBox="1"/>
          <p:nvPr/>
        </p:nvSpPr>
        <p:spPr>
          <a:xfrm>
            <a:off x="381000" y="4333875"/>
            <a:ext cx="3048000" cy="476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394050"/>
                </a:solidFill>
                <a:latin typeface="Geologica Medium"/>
              </a:rPr>
              <a:t>Знаходимо</a:t>
            </a:r>
          </a:p>
        </p:txBody>
      </p:sp>
      <p:sp>
        <p:nvSpPr>
          <p:cNvPr id="7" name="s1-heading-r2"/>
          <p:cNvSpPr txBox="1"/>
          <p:nvPr/>
        </p:nvSpPr>
        <p:spPr>
          <a:xfrm>
            <a:off x="381000" y="4810125"/>
            <a:ext cx="3048000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>
                <a:solidFill>
                  <a:srgbClr val="394050"/>
                </a:solidFill>
                <a:latin typeface="Geologica"/>
              </a:rPr>
              <a:t>рішення,</a:t>
            </a:r>
          </a:p>
        </p:txBody>
      </p:sp>
      <p:sp>
        <p:nvSpPr>
          <p:cNvPr id="8" name="s1-heading-r3"/>
          <p:cNvSpPr txBox="1"/>
          <p:nvPr/>
        </p:nvSpPr>
        <p:spPr>
          <a:xfrm>
            <a:off x="381000" y="5200650"/>
            <a:ext cx="3048000" cy="476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що працюють</a:t>
            </a:r>
          </a:p>
        </p:txBody>
      </p:sp>
      <p:sp>
        <p:nvSpPr>
          <p:cNvPr id="9" name="s1-seg-pill-Defense"/>
          <p:cNvSpPr/>
          <p:nvPr/>
        </p:nvSpPr>
        <p:spPr>
          <a:xfrm>
            <a:off x="381000" y="5905500"/>
            <a:ext cx="723900" cy="25717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EA1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5905500"/>
            <a:ext cx="723900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cap="all" spc="60">
                <a:solidFill>
                  <a:srgbClr val="DEA102"/>
                </a:solidFill>
                <a:latin typeface="Onest Medium"/>
              </a:rPr>
              <a:t>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5905500"/>
            <a:ext cx="133350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EA102"/>
                </a:solidFill>
                <a:latin typeface="Onest Regular"/>
              </a:rPr>
              <a:t>·</a:t>
            </a:r>
          </a:p>
        </p:txBody>
      </p:sp>
      <p:sp>
        <p:nvSpPr>
          <p:cNvPr id="12" name="s1-seg-pill-Production"/>
          <p:cNvSpPr/>
          <p:nvPr/>
        </p:nvSpPr>
        <p:spPr>
          <a:xfrm>
            <a:off x="1390650" y="5905500"/>
            <a:ext cx="942975" cy="25717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EA1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0650" y="5905500"/>
            <a:ext cx="942975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cap="all" spc="60">
                <a:solidFill>
                  <a:srgbClr val="DEA102"/>
                </a:solidFill>
                <a:latin typeface="Onest Medium"/>
              </a:rPr>
              <a:t>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9825" y="5905500"/>
            <a:ext cx="133350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EA102"/>
                </a:solidFill>
                <a:latin typeface="Onest Regular"/>
              </a:rPr>
              <a:t>·</a:t>
            </a:r>
          </a:p>
        </p:txBody>
      </p:sp>
      <p:sp>
        <p:nvSpPr>
          <p:cNvPr id="15" name="s1-seg-pill-Sales"/>
          <p:cNvSpPr/>
          <p:nvPr/>
        </p:nvSpPr>
        <p:spPr>
          <a:xfrm>
            <a:off x="2619375" y="5905500"/>
            <a:ext cx="581025" cy="25717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EA1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9375" y="5905500"/>
            <a:ext cx="581025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cap="all" spc="60">
                <a:solidFill>
                  <a:srgbClr val="DEA102"/>
                </a:solidFill>
                <a:latin typeface="Onest Medium"/>
              </a:rPr>
              <a:t>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600" y="5905500"/>
            <a:ext cx="133350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EA102"/>
                </a:solidFill>
                <a:latin typeface="Onest Regular"/>
              </a:rPr>
              <a:t>·</a:t>
            </a:r>
          </a:p>
        </p:txBody>
      </p:sp>
      <p:sp>
        <p:nvSpPr>
          <p:cNvPr id="18" name="s1-seg-pill-Back office"/>
          <p:cNvSpPr/>
          <p:nvPr/>
        </p:nvSpPr>
        <p:spPr>
          <a:xfrm>
            <a:off x="3486150" y="5905500"/>
            <a:ext cx="1028700" cy="25717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EA1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6150" y="5905500"/>
            <a:ext cx="1028700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cap="all" spc="60">
                <a:solidFill>
                  <a:srgbClr val="DEA102"/>
                </a:solidFill>
                <a:latin typeface="Onest Medium"/>
              </a:rPr>
              <a:t>Back office</a:t>
            </a:r>
          </a:p>
        </p:txBody>
      </p:sp>
      <p:sp>
        <p:nvSpPr>
          <p:cNvPr id="20" name="s1-leader-1"/>
          <p:cNvSpPr txBox="1"/>
          <p:nvPr/>
        </p:nvSpPr>
        <p:spPr>
          <a:xfrm>
            <a:off x="3467100" y="1143000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cap="all" spc="140">
                <a:solidFill>
                  <a:srgbClr val="394050"/>
                </a:solidFill>
                <a:latin typeface="Onest Regular"/>
              </a:rPr>
              <a:t>Виробничі</a:t>
            </a:r>
          </a:p>
        </p:txBody>
      </p:sp>
      <p:sp>
        <p:nvSpPr>
          <p:cNvPr id="21" name="s1-leader-2"/>
          <p:cNvSpPr txBox="1"/>
          <p:nvPr/>
        </p:nvSpPr>
        <p:spPr>
          <a:xfrm>
            <a:off x="6238875" y="1143000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cap="all" spc="140">
                <a:solidFill>
                  <a:srgbClr val="394050"/>
                </a:solidFill>
                <a:latin typeface="Onest Regular"/>
              </a:rPr>
              <a:t>Інженерно-технічні</a:t>
            </a:r>
          </a:p>
        </p:txBody>
      </p:sp>
      <p:sp>
        <p:nvSpPr>
          <p:cNvPr id="22" name="s1-leader-3"/>
          <p:cNvSpPr txBox="1"/>
          <p:nvPr/>
        </p:nvSpPr>
        <p:spPr>
          <a:xfrm>
            <a:off x="3467100" y="4638675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cap="all" spc="140">
                <a:solidFill>
                  <a:srgbClr val="394050"/>
                </a:solidFill>
                <a:latin typeface="Onest Regular"/>
              </a:rPr>
              <a:t>Офісні</a:t>
            </a:r>
          </a:p>
        </p:txBody>
      </p:sp>
      <p:sp>
        <p:nvSpPr>
          <p:cNvPr id="23" name="s1-leader-4"/>
          <p:cNvSpPr txBox="1"/>
          <p:nvPr/>
        </p:nvSpPr>
        <p:spPr>
          <a:xfrm>
            <a:off x="6238875" y="4638675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cap="all" spc="140">
                <a:solidFill>
                  <a:srgbClr val="394050"/>
                </a:solidFill>
                <a:latin typeface="Onest Regular"/>
              </a:rPr>
              <a:t>Управлінські</a:t>
            </a:r>
          </a:p>
        </p:txBody>
      </p:sp>
      <p:pic>
        <p:nvPicPr>
          <p:cNvPr id="24" name="Picture 23" descr="center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2457450"/>
            <a:ext cx="1047749" cy="1047749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504950" y="1800225"/>
            <a:ext cx="495299" cy="4952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link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7825" y="1943100"/>
            <a:ext cx="209550" cy="209550"/>
          </a:xfrm>
          <a:prstGeom prst="rect">
            <a:avLst/>
          </a:prstGeom>
        </p:spPr>
      </p:pic>
      <p:pic>
        <p:nvPicPr>
          <p:cNvPr id="27" name="Picture 26" descr="brand-horizontal-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7339" y="419100"/>
            <a:ext cx="2048042" cy="609600"/>
          </a:xfrm>
          <a:prstGeom prst="rect">
            <a:avLst/>
          </a:prstGeom>
        </p:spPr>
      </p:pic>
      <p:sp>
        <p:nvSpPr>
          <p:cNvPr id="28" name="s1-eyebrow"/>
          <p:cNvSpPr txBox="1"/>
          <p:nvPr/>
        </p:nvSpPr>
        <p:spPr>
          <a:xfrm>
            <a:off x="9159240" y="4152900"/>
            <a:ext cx="286131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180">
                <a:solidFill>
                  <a:srgbClr val="A8AEBC"/>
                </a:solidFill>
                <a:latin typeface="Onest Medium"/>
              </a:rPr>
              <a:t>Там, де звичайний найм</a:t>
            </a:r>
          </a:p>
        </p:txBody>
      </p:sp>
      <p:sp>
        <p:nvSpPr>
          <p:cNvPr id="29" name="s1-pill-white"/>
          <p:cNvSpPr/>
          <p:nvPr/>
        </p:nvSpPr>
        <p:spPr>
          <a:xfrm>
            <a:off x="9159240" y="4448175"/>
            <a:ext cx="11239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9240" y="4448175"/>
            <a:ext cx="112395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60">
                <a:solidFill>
                  <a:srgbClr val="394050"/>
                </a:solidFill>
                <a:latin typeface="Onest Medium"/>
              </a:rPr>
              <a:t>не працює</a:t>
            </a:r>
          </a:p>
        </p:txBody>
      </p:sp>
      <p:sp>
        <p:nvSpPr>
          <p:cNvPr id="31" name="s1-right-lines"/>
          <p:cNvSpPr txBox="1"/>
          <p:nvPr/>
        </p:nvSpPr>
        <p:spPr>
          <a:xfrm>
            <a:off x="9159240" y="4905375"/>
            <a:ext cx="2861310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власна база </a:t>
            </a:r>
            <a:r>
              <a:rPr sz="1275" b="0">
                <a:solidFill>
                  <a:srgbClr val="DEA102"/>
                </a:solidFill>
                <a:latin typeface="Geologica Medium"/>
              </a:rPr>
              <a:t>10 000+</a:t>
            </a:r>
            <a:r>
              <a:rPr sz="1275" b="0">
                <a:solidFill>
                  <a:srgbClr val="EBEAE8"/>
                </a:solidFill>
                <a:latin typeface="Onest Regular"/>
              </a:rPr>
              <a:t> кандидатів,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навчальний центр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і підбір під гарантію</a:t>
            </a:r>
          </a:p>
        </p:txBody>
      </p:sp>
      <p:sp>
        <p:nvSpPr>
          <p:cNvPr id="32" name="s1-footer-scrim-light"/>
          <p:cNvSpPr/>
          <p:nvPr/>
        </p:nvSpPr>
        <p:spPr>
          <a:xfrm>
            <a:off x="0" y="6324600"/>
            <a:ext cx="8778240" cy="5334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1-footer-scrim-dark"/>
          <p:cNvSpPr/>
          <p:nvPr/>
        </p:nvSpPr>
        <p:spPr>
          <a:xfrm>
            <a:off x="8778240" y="6324600"/>
            <a:ext cx="3413760" cy="533400"/>
          </a:xfrm>
          <a:prstGeom prst="rect">
            <a:avLst/>
          </a:prstGeom>
          <a:solidFill>
            <a:srgbClr val="39405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0" y="6324600"/>
            <a:ext cx="1219200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brand-horizontal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6486525"/>
            <a:ext cx="704014" cy="209550"/>
          </a:xfrm>
          <a:prstGeom prst="rect">
            <a:avLst/>
          </a:prstGeom>
        </p:spPr>
      </p:pic>
      <p:sp>
        <p:nvSpPr>
          <p:cNvPr id="36" name="footer-page-num"/>
          <p:cNvSpPr txBox="1"/>
          <p:nvPr/>
        </p:nvSpPr>
        <p:spPr>
          <a:xfrm>
            <a:off x="8572500" y="6324600"/>
            <a:ext cx="32385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2-title"/>
          <p:cNvSpPr txBox="1"/>
          <p:nvPr/>
        </p:nvSpPr>
        <p:spPr>
          <a:xfrm>
            <a:off x="342900" y="762000"/>
            <a:ext cx="2667000" cy="1181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394050"/>
                </a:solidFill>
                <a:latin typeface="Geologica Medium"/>
              </a:rPr>
              <a:t>Чому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394050"/>
                </a:solidFill>
                <a:latin typeface="Geologica Medium"/>
              </a:rPr>
              <a:t>найм —</a:t>
            </a:r>
          </a:p>
        </p:txBody>
      </p:sp>
      <p:sp>
        <p:nvSpPr>
          <p:cNvPr id="4" name="s2-subtitle"/>
          <p:cNvSpPr txBox="1"/>
          <p:nvPr/>
        </p:nvSpPr>
        <p:spPr>
          <a:xfrm>
            <a:off x="342900" y="2076450"/>
            <a:ext cx="266700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07787"/>
                </a:solidFill>
                <a:latin typeface="Geologica"/>
              </a:rPr>
              <a:t>це критично?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69920" y="0"/>
            <a:ext cx="0" cy="685800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2-p1"/>
          <p:cNvSpPr txBox="1"/>
          <p:nvPr/>
        </p:nvSpPr>
        <p:spPr>
          <a:xfrm>
            <a:off x="3779520" y="609600"/>
            <a:ext cx="780288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BEAE8"/>
                </a:solidFill>
                <a:latin typeface="Onest Regular"/>
              </a:rPr>
              <a:t>ReLink — рекрутингова агенція для Defense, виробничих і суміжних компаній.</a:t>
            </a:r>
          </a:p>
        </p:txBody>
      </p:sp>
      <p:sp>
        <p:nvSpPr>
          <p:cNvPr id="7" name="s2-p2"/>
          <p:cNvSpPr txBox="1"/>
          <p:nvPr/>
        </p:nvSpPr>
        <p:spPr>
          <a:xfrm>
            <a:off x="3779520" y="914400"/>
            <a:ext cx="780288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BEAE8"/>
                </a:solidFill>
                <a:latin typeface="Onest Regular"/>
              </a:rPr>
              <a:t>Ми допомагаємо компаніям, для яких найм персоналу — це не формальність,</a:t>
            </a:r>
          </a:p>
        </p:txBody>
      </p:sp>
      <p:sp>
        <p:nvSpPr>
          <p:cNvPr id="8" name="s2-p3-core"/>
          <p:cNvSpPr txBox="1"/>
          <p:nvPr/>
        </p:nvSpPr>
        <p:spPr>
          <a:xfrm>
            <a:off x="3779520" y="1352550"/>
            <a:ext cx="780288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BEAE8"/>
                </a:solidFill>
                <a:latin typeface="Onest Regular"/>
              </a:rPr>
              <a:t>а критична умова стабільної роботи й росту бізнесу.</a:t>
            </a:r>
          </a:p>
        </p:txBody>
      </p:sp>
      <p:sp>
        <p:nvSpPr>
          <p:cNvPr id="9" name="s2-task"/>
          <p:cNvSpPr txBox="1"/>
          <p:nvPr/>
        </p:nvSpPr>
        <p:spPr>
          <a:xfrm>
            <a:off x="3779520" y="1828800"/>
            <a:ext cx="780288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DEA102"/>
                </a:solidFill>
                <a:latin typeface="Geologica Medium"/>
              </a:rPr>
              <a:t>Наша задача — зняти з вашої команди операційне навантаження з найму.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69920" y="3810000"/>
            <a:ext cx="902208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2-chain-pill-Незакрита вакансія"/>
          <p:cNvSpPr/>
          <p:nvPr/>
        </p:nvSpPr>
        <p:spPr>
          <a:xfrm>
            <a:off x="4418647" y="4572000"/>
            <a:ext cx="1924049" cy="3524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07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8647" y="4572000"/>
            <a:ext cx="1924049" cy="3524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cap="all" spc="60">
                <a:solidFill>
                  <a:srgbClr val="394050"/>
                </a:solidFill>
                <a:latin typeface="Onest Regular"/>
              </a:rPr>
              <a:t>Незакрита вакансія</a:t>
            </a:r>
          </a:p>
        </p:txBody>
      </p:sp>
      <p:sp>
        <p:nvSpPr>
          <p:cNvPr id="13" name="s2-chain-pill-Простій виробництва"/>
          <p:cNvSpPr/>
          <p:nvPr/>
        </p:nvSpPr>
        <p:spPr>
          <a:xfrm>
            <a:off x="6647497" y="4572000"/>
            <a:ext cx="1924049" cy="3524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07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497" y="4572000"/>
            <a:ext cx="1924049" cy="3524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cap="all" spc="60">
                <a:solidFill>
                  <a:srgbClr val="394050"/>
                </a:solidFill>
                <a:latin typeface="Onest Regular"/>
              </a:rPr>
              <a:t>Простій виробництва</a:t>
            </a:r>
          </a:p>
        </p:txBody>
      </p:sp>
      <p:sp>
        <p:nvSpPr>
          <p:cNvPr id="15" name="s2-chain-pill-Втрачені контракти"/>
          <p:cNvSpPr/>
          <p:nvPr/>
        </p:nvSpPr>
        <p:spPr>
          <a:xfrm>
            <a:off x="8990647" y="4572000"/>
            <a:ext cx="1838324" cy="3524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07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0647" y="4572000"/>
            <a:ext cx="1838324" cy="3524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cap="all" spc="60">
                <a:solidFill>
                  <a:srgbClr val="394050"/>
                </a:solidFill>
                <a:latin typeface="Onest Regular"/>
              </a:rPr>
              <a:t>Втрачені контракти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80797" y="4681537"/>
            <a:ext cx="114300" cy="66675"/>
          </a:xfrm>
          <a:prstGeom prst="line">
            <a:avLst/>
          </a:prstGeom>
          <a:ln w="25400">
            <a:solidFill>
              <a:srgbClr val="DEA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380797" y="4748212"/>
            <a:ext cx="114300" cy="66675"/>
          </a:xfrm>
          <a:prstGeom prst="line">
            <a:avLst/>
          </a:prstGeom>
          <a:ln w="25400">
            <a:solidFill>
              <a:srgbClr val="DEA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23947" y="4681537"/>
            <a:ext cx="114300" cy="66675"/>
          </a:xfrm>
          <a:prstGeom prst="line">
            <a:avLst/>
          </a:prstGeom>
          <a:ln w="25400">
            <a:solidFill>
              <a:srgbClr val="DEA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23947" y="4748212"/>
            <a:ext cx="114300" cy="66675"/>
          </a:xfrm>
          <a:prstGeom prst="line">
            <a:avLst/>
          </a:prstGeom>
          <a:ln w="25400">
            <a:solidFill>
              <a:srgbClr val="DEA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icon-globe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325" y="6162675"/>
            <a:ext cx="152400" cy="152400"/>
          </a:xfrm>
          <a:prstGeom prst="rect">
            <a:avLst/>
          </a:prstGeom>
        </p:spPr>
      </p:pic>
      <p:sp>
        <p:nvSpPr>
          <p:cNvPr id="22" name="s2-geo"/>
          <p:cNvSpPr txBox="1"/>
          <p:nvPr/>
        </p:nvSpPr>
        <p:spPr>
          <a:xfrm>
            <a:off x="10058400" y="6153150"/>
            <a:ext cx="15240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07787"/>
                </a:solidFill>
                <a:latin typeface="Onest Light"/>
              </a:rPr>
              <a:t>Географія — Україна</a:t>
            </a:r>
          </a:p>
        </p:txBody>
      </p:sp>
      <p:pic>
        <p:nvPicPr>
          <p:cNvPr id="23" name="Picture 22" descr="brand-horizontal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6486525"/>
            <a:ext cx="704014" cy="209550"/>
          </a:xfrm>
          <a:prstGeom prst="rect">
            <a:avLst/>
          </a:prstGeom>
        </p:spPr>
      </p:pic>
      <p:sp>
        <p:nvSpPr>
          <p:cNvPr id="24" name="footer-page-num"/>
          <p:cNvSpPr txBox="1"/>
          <p:nvPr/>
        </p:nvSpPr>
        <p:spPr>
          <a:xfrm>
            <a:off x="8572500" y="6324600"/>
            <a:ext cx="3238500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ader-pill"/>
          <p:cNvSpPr/>
          <p:nvPr/>
        </p:nvSpPr>
        <p:spPr>
          <a:xfrm>
            <a:off x="762000" y="609600"/>
            <a:ext cx="2181225" cy="3143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8AE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2181225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100">
                <a:solidFill>
                  <a:srgbClr val="A8AEBC"/>
                </a:solidFill>
                <a:latin typeface="Onest Regular"/>
              </a:rPr>
              <a:t>Цільова аудиторія</a:t>
            </a:r>
          </a:p>
        </p:txBody>
      </p:sp>
      <p:sp>
        <p:nvSpPr>
          <p:cNvPr id="5" name="header-title"/>
          <p:cNvSpPr txBox="1"/>
          <p:nvPr/>
        </p:nvSpPr>
        <p:spPr>
          <a:xfrm>
            <a:off x="762000" y="1095375"/>
            <a:ext cx="9525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cap="all">
                <a:solidFill>
                  <a:srgbClr val="EBEAE8"/>
                </a:solidFill>
                <a:latin typeface="Geologica Medium"/>
              </a:rPr>
              <a:t>З ким працюємо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18000" y="2286000"/>
            <a:ext cx="0" cy="407670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74000" y="2286000"/>
            <a:ext cx="0" cy="407670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62000" y="2286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briefcase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49" y="2457450"/>
            <a:ext cx="266700" cy="266700"/>
          </a:xfrm>
          <a:prstGeom prst="rect">
            <a:avLst/>
          </a:prstGeom>
        </p:spPr>
      </p:pic>
      <p:sp>
        <p:nvSpPr>
          <p:cNvPr id="10" name="s3-col1-title"/>
          <p:cNvSpPr txBox="1"/>
          <p:nvPr/>
        </p:nvSpPr>
        <p:spPr>
          <a:xfrm>
            <a:off x="762000" y="3105150"/>
            <a:ext cx="325116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cap="all">
                <a:solidFill>
                  <a:srgbClr val="DEA102"/>
                </a:solidFill>
                <a:latin typeface="Geologica Medium"/>
              </a:rPr>
              <a:t>B2B — клієнти</a:t>
            </a:r>
          </a:p>
        </p:txBody>
      </p:sp>
      <p:sp>
        <p:nvSpPr>
          <p:cNvPr id="11" name="s3-col1-text"/>
          <p:cNvSpPr txBox="1"/>
          <p:nvPr/>
        </p:nvSpPr>
        <p:spPr>
          <a:xfrm>
            <a:off x="762000" y="3514725"/>
            <a:ext cx="3251168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EBEAE8"/>
                </a:solidFill>
                <a:latin typeface="Onest Light"/>
              </a:rPr>
              <a:t>Керівники HR/HRD та власники або директори компаній сектору Defense (розмір 50–500 осіб) та МСБ у виробничих, логістичних і технічних сферах (розмір 30–200 осіб).</a:t>
            </a:r>
          </a:p>
        </p:txBody>
      </p:sp>
      <p:sp>
        <p:nvSpPr>
          <p:cNvPr id="12" name="Oval 11"/>
          <p:cNvSpPr/>
          <p:nvPr/>
        </p:nvSpPr>
        <p:spPr>
          <a:xfrm>
            <a:off x="4622768" y="2286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people-grap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18" y="2457450"/>
            <a:ext cx="266700" cy="266700"/>
          </a:xfrm>
          <a:prstGeom prst="rect">
            <a:avLst/>
          </a:prstGeom>
        </p:spPr>
      </p:pic>
      <p:sp>
        <p:nvSpPr>
          <p:cNvPr id="14" name="s3-col2-title"/>
          <p:cNvSpPr txBox="1"/>
          <p:nvPr/>
        </p:nvSpPr>
        <p:spPr>
          <a:xfrm>
            <a:off x="4622768" y="3105150"/>
            <a:ext cx="294636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cap="all">
                <a:solidFill>
                  <a:srgbClr val="DEA102"/>
                </a:solidFill>
                <a:latin typeface="Geologica Medium"/>
              </a:rPr>
              <a:t>B2C — кандидати</a:t>
            </a:r>
          </a:p>
        </p:txBody>
      </p:sp>
      <p:sp>
        <p:nvSpPr>
          <p:cNvPr id="15" name="s3-col2-text"/>
          <p:cNvSpPr txBox="1"/>
          <p:nvPr/>
        </p:nvSpPr>
        <p:spPr>
          <a:xfrm>
            <a:off x="4622768" y="3514725"/>
            <a:ext cx="2946368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EBEAE8"/>
                </a:solidFill>
                <a:latin typeface="Onest Light"/>
              </a:rPr>
              <a:t>Робітничі спеціальності (монтажники, комплектувальники), інженерно-технічні фахівці, офісний та управлінський персонал, ветерани з військовим досвідом.</a:t>
            </a:r>
          </a:p>
        </p:txBody>
      </p:sp>
      <p:sp>
        <p:nvSpPr>
          <p:cNvPr id="16" name="Oval 15"/>
          <p:cNvSpPr/>
          <p:nvPr/>
        </p:nvSpPr>
        <p:spPr>
          <a:xfrm>
            <a:off x="8178831" y="2286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veteran-grap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281" y="2457450"/>
            <a:ext cx="266700" cy="266700"/>
          </a:xfrm>
          <a:prstGeom prst="rect">
            <a:avLst/>
          </a:prstGeom>
        </p:spPr>
      </p:pic>
      <p:sp>
        <p:nvSpPr>
          <p:cNvPr id="18" name="s3-col3-title"/>
          <p:cNvSpPr txBox="1"/>
          <p:nvPr/>
        </p:nvSpPr>
        <p:spPr>
          <a:xfrm>
            <a:off x="8178831" y="3105150"/>
            <a:ext cx="294636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cap="all">
                <a:solidFill>
                  <a:srgbClr val="DEA102"/>
                </a:solidFill>
                <a:latin typeface="Geologica Medium"/>
              </a:rPr>
              <a:t>Ветеранам</a:t>
            </a:r>
          </a:p>
        </p:txBody>
      </p:sp>
      <p:sp>
        <p:nvSpPr>
          <p:cNvPr id="19" name="s3-col3-text"/>
          <p:cNvSpPr txBox="1"/>
          <p:nvPr/>
        </p:nvSpPr>
        <p:spPr>
          <a:xfrm>
            <a:off x="8178831" y="3514725"/>
            <a:ext cx="2946368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EBEAE8"/>
                </a:solidFill>
                <a:latin typeface="Onest Light"/>
              </a:rPr>
              <a:t>Допомагаємо ветеранам та ветеранкам знайти роботу, де поважають ваш досвід, відповідальність та навички. Безкоштовно, конфіденційно, крок за кроком.</a:t>
            </a:r>
          </a:p>
        </p:txBody>
      </p:sp>
      <p:pic>
        <p:nvPicPr>
          <p:cNvPr id="20" name="Picture 19" descr="brand-horizontal-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6505575"/>
            <a:ext cx="704014" cy="209550"/>
          </a:xfrm>
          <a:prstGeom prst="rect">
            <a:avLst/>
          </a:prstGeom>
        </p:spPr>
      </p:pic>
      <p:sp>
        <p:nvSpPr>
          <p:cNvPr id="21" name="footer-page-num"/>
          <p:cNvSpPr txBox="1"/>
          <p:nvPr/>
        </p:nvSpPr>
        <p:spPr>
          <a:xfrm>
            <a:off x="8572500" y="636270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4-pill-header"/>
          <p:cNvSpPr/>
          <p:nvPr/>
        </p:nvSpPr>
        <p:spPr>
          <a:xfrm>
            <a:off x="762000" y="609600"/>
            <a:ext cx="1238250" cy="3429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EA102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23825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cap="all" spc="80">
                <a:solidFill>
                  <a:srgbClr val="DEA102"/>
                </a:solidFill>
                <a:latin typeface="Onest Medium"/>
              </a:rPr>
              <a:t>Послуги</a:t>
            </a:r>
          </a:p>
        </p:txBody>
      </p:sp>
      <p:sp>
        <p:nvSpPr>
          <p:cNvPr id="5" name="s4-title"/>
          <p:cNvSpPr txBox="1"/>
          <p:nvPr/>
        </p:nvSpPr>
        <p:spPr>
          <a:xfrm>
            <a:off x="762000" y="1123950"/>
            <a:ext cx="9525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cap="all">
                <a:solidFill>
                  <a:srgbClr val="394050"/>
                </a:solidFill>
                <a:latin typeface="Geologica Medium"/>
              </a:rPr>
              <a:t>Наші послуги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18000" y="2095499"/>
            <a:ext cx="0" cy="4267201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74000" y="2095499"/>
            <a:ext cx="0" cy="4267201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62000" y="2095499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briefcase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49" y="2266950"/>
            <a:ext cx="266700" cy="266700"/>
          </a:xfrm>
          <a:prstGeom prst="rect">
            <a:avLst/>
          </a:prstGeom>
        </p:spPr>
      </p:pic>
      <p:sp>
        <p:nvSpPr>
          <p:cNvPr id="10" name="s4-col1-title"/>
          <p:cNvSpPr txBox="1"/>
          <p:nvPr/>
        </p:nvSpPr>
        <p:spPr>
          <a:xfrm>
            <a:off x="762000" y="2914650"/>
            <a:ext cx="3251168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cap="all">
                <a:solidFill>
                  <a:srgbClr val="394050"/>
                </a:solidFill>
                <a:latin typeface="Geologica Medium"/>
              </a:rPr>
              <a:t>Класичний рекрутинг</a:t>
            </a:r>
          </a:p>
        </p:txBody>
      </p:sp>
      <p:sp>
        <p:nvSpPr>
          <p:cNvPr id="11" name="s4-col1-text"/>
          <p:cNvSpPr txBox="1"/>
          <p:nvPr/>
        </p:nvSpPr>
        <p:spPr>
          <a:xfrm>
            <a:off x="762000" y="3264217"/>
            <a:ext cx="3251168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07787"/>
                </a:solidFill>
                <a:latin typeface="Onest Light"/>
              </a:rPr>
              <a:t>Офісні, комерційні та управлінські вакансії. Беремо процес підбору на себе — від уточнення вакансії до виходу кандидата на роботу.</a:t>
            </a:r>
          </a:p>
        </p:txBody>
      </p:sp>
      <p:sp>
        <p:nvSpPr>
          <p:cNvPr id="12" name="Oval 11"/>
          <p:cNvSpPr/>
          <p:nvPr/>
        </p:nvSpPr>
        <p:spPr>
          <a:xfrm>
            <a:off x="4622768" y="2095499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gear-grap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18" y="2266950"/>
            <a:ext cx="266700" cy="266700"/>
          </a:xfrm>
          <a:prstGeom prst="rect">
            <a:avLst/>
          </a:prstGeom>
        </p:spPr>
      </p:pic>
      <p:sp>
        <p:nvSpPr>
          <p:cNvPr id="14" name="s4-col2-title"/>
          <p:cNvSpPr txBox="1"/>
          <p:nvPr/>
        </p:nvSpPr>
        <p:spPr>
          <a:xfrm>
            <a:off x="4622768" y="2914650"/>
            <a:ext cx="2946368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cap="all">
                <a:solidFill>
                  <a:srgbClr val="394050"/>
                </a:solidFill>
                <a:latin typeface="Geologica Medium"/>
              </a:rPr>
              <a:t>Складний інженерно-технічний підбір</a:t>
            </a:r>
          </a:p>
        </p:txBody>
      </p:sp>
      <p:sp>
        <p:nvSpPr>
          <p:cNvPr id="15" name="s4-col2-text"/>
          <p:cNvSpPr txBox="1"/>
          <p:nvPr/>
        </p:nvSpPr>
        <p:spPr>
          <a:xfrm>
            <a:off x="4622768" y="3499484"/>
            <a:ext cx="2946368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07787"/>
                </a:solidFill>
                <a:latin typeface="Onest Light"/>
              </a:rPr>
              <a:t>Для позицій, де мало резюме і важливий профіль.</a:t>
            </a:r>
          </a:p>
        </p:txBody>
      </p:sp>
      <p:sp>
        <p:nvSpPr>
          <p:cNvPr id="16" name="Oval 15"/>
          <p:cNvSpPr/>
          <p:nvPr/>
        </p:nvSpPr>
        <p:spPr>
          <a:xfrm>
            <a:off x="8178831" y="2095499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link-grap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281" y="2266950"/>
            <a:ext cx="266700" cy="266700"/>
          </a:xfrm>
          <a:prstGeom prst="rect">
            <a:avLst/>
          </a:prstGeom>
        </p:spPr>
      </p:pic>
      <p:sp>
        <p:nvSpPr>
          <p:cNvPr id="18" name="s4-col3-title"/>
          <p:cNvSpPr txBox="1"/>
          <p:nvPr/>
        </p:nvSpPr>
        <p:spPr>
          <a:xfrm>
            <a:off x="8178831" y="2914650"/>
            <a:ext cx="2946368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cap="all">
                <a:solidFill>
                  <a:srgbClr val="394050"/>
                </a:solidFill>
                <a:latin typeface="Geologica Medium"/>
              </a:rPr>
              <a:t>Спеціальні формати співпраці</a:t>
            </a:r>
          </a:p>
        </p:txBody>
      </p:sp>
      <p:sp>
        <p:nvSpPr>
          <p:cNvPr id="19" name="s4-col3-text"/>
          <p:cNvSpPr txBox="1"/>
          <p:nvPr/>
        </p:nvSpPr>
        <p:spPr>
          <a:xfrm>
            <a:off x="8178831" y="3499484"/>
            <a:ext cx="2946368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07787"/>
                </a:solidFill>
                <a:latin typeface="Onest Light"/>
              </a:rPr>
              <a:t>Масовий підбір, навчальний центр, зовнішній HR-партнер, терміновий підбір.</a:t>
            </a:r>
          </a:p>
        </p:txBody>
      </p:sp>
      <p:sp>
        <p:nvSpPr>
          <p:cNvPr id="20" name="s4-col3-note"/>
          <p:cNvSpPr txBox="1"/>
          <p:nvPr/>
        </p:nvSpPr>
        <p:spPr>
          <a:xfrm>
            <a:off x="8178831" y="4070985"/>
            <a:ext cx="2946368" cy="247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DEA102"/>
                </a:solidFill>
                <a:latin typeface="Geologica Medium"/>
              </a:rPr>
              <a:t>Детальніше — далі</a:t>
            </a:r>
          </a:p>
        </p:txBody>
      </p:sp>
      <p:pic>
        <p:nvPicPr>
          <p:cNvPr id="21" name="Picture 20" descr="brand-horizontal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6505575"/>
            <a:ext cx="704014" cy="209550"/>
          </a:xfrm>
          <a:prstGeom prst="rect">
            <a:avLst/>
          </a:prstGeom>
        </p:spPr>
      </p:pic>
      <p:sp>
        <p:nvSpPr>
          <p:cNvPr id="22" name="footer-page-num"/>
          <p:cNvSpPr txBox="1"/>
          <p:nvPr/>
        </p:nvSpPr>
        <p:spPr>
          <a:xfrm>
            <a:off x="8572500" y="636270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5-pill-header"/>
          <p:cNvSpPr/>
          <p:nvPr/>
        </p:nvSpPr>
        <p:spPr>
          <a:xfrm>
            <a:off x="762000" y="609600"/>
            <a:ext cx="2190750" cy="3429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EA102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219075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cap="all" spc="80">
                <a:solidFill>
                  <a:srgbClr val="DEA102"/>
                </a:solidFill>
                <a:latin typeface="Onest Medium"/>
              </a:rPr>
              <a:t>Формати співпраці</a:t>
            </a:r>
          </a:p>
        </p:txBody>
      </p:sp>
      <p:sp>
        <p:nvSpPr>
          <p:cNvPr id="5" name="s5-title"/>
          <p:cNvSpPr txBox="1"/>
          <p:nvPr/>
        </p:nvSpPr>
        <p:spPr>
          <a:xfrm>
            <a:off x="762000" y="1123950"/>
            <a:ext cx="104775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cap="all">
                <a:solidFill>
                  <a:srgbClr val="394050"/>
                </a:solidFill>
                <a:latin typeface="Geologica Medium"/>
              </a:rPr>
              <a:t>Спеціальні формати співпраці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2000" y="2057400"/>
            <a:ext cx="1066800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62000" y="232410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people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76500"/>
            <a:ext cx="228600" cy="228600"/>
          </a:xfrm>
          <a:prstGeom prst="rect">
            <a:avLst/>
          </a:prstGeom>
        </p:spPr>
      </p:pic>
      <p:sp>
        <p:nvSpPr>
          <p:cNvPr id="9" name="s5-band1-name"/>
          <p:cNvSpPr txBox="1"/>
          <p:nvPr/>
        </p:nvSpPr>
        <p:spPr>
          <a:xfrm>
            <a:off x="1543050" y="2057400"/>
            <a:ext cx="32385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94050"/>
                </a:solidFill>
                <a:latin typeface="Geologica Medium"/>
              </a:rPr>
              <a:t>Масовий підбір</a:t>
            </a:r>
          </a:p>
        </p:txBody>
      </p:sp>
      <p:sp>
        <p:nvSpPr>
          <p:cNvPr id="10" name="s5-band1-text"/>
          <p:cNvSpPr txBox="1"/>
          <p:nvPr/>
        </p:nvSpPr>
        <p:spPr>
          <a:xfrm>
            <a:off x="5029200" y="2057400"/>
            <a:ext cx="64008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707787"/>
                </a:solidFill>
                <a:latin typeface="Onest Light"/>
              </a:rPr>
              <a:t>При масштабуванні команди.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2000" y="3124200"/>
            <a:ext cx="1066800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62000" y="339090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book-grap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43300"/>
            <a:ext cx="228600" cy="228600"/>
          </a:xfrm>
          <a:prstGeom prst="rect">
            <a:avLst/>
          </a:prstGeom>
        </p:spPr>
      </p:pic>
      <p:sp>
        <p:nvSpPr>
          <p:cNvPr id="14" name="s5-band2-name"/>
          <p:cNvSpPr txBox="1"/>
          <p:nvPr/>
        </p:nvSpPr>
        <p:spPr>
          <a:xfrm>
            <a:off x="1543050" y="3124200"/>
            <a:ext cx="32385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94050"/>
                </a:solidFill>
                <a:latin typeface="Geologica Medium"/>
              </a:rPr>
              <a:t>Власний навчальний центр</a:t>
            </a:r>
          </a:p>
        </p:txBody>
      </p:sp>
      <p:sp>
        <p:nvSpPr>
          <p:cNvPr id="15" name="s5-band2-text"/>
          <p:cNvSpPr txBox="1"/>
          <p:nvPr/>
        </p:nvSpPr>
        <p:spPr>
          <a:xfrm>
            <a:off x="5029200" y="3124200"/>
            <a:ext cx="64008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707787"/>
                </a:solidFill>
                <a:latin typeface="Onest Light"/>
              </a:rPr>
              <a:t>Підготовка робітничого персоналу.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000" y="4190999"/>
            <a:ext cx="1066800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62000" y="445770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link-grap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10100"/>
            <a:ext cx="228600" cy="228600"/>
          </a:xfrm>
          <a:prstGeom prst="rect">
            <a:avLst/>
          </a:prstGeom>
        </p:spPr>
      </p:pic>
      <p:sp>
        <p:nvSpPr>
          <p:cNvPr id="19" name="s5-band3-name"/>
          <p:cNvSpPr txBox="1"/>
          <p:nvPr/>
        </p:nvSpPr>
        <p:spPr>
          <a:xfrm>
            <a:off x="1543050" y="4190999"/>
            <a:ext cx="32385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94050"/>
                </a:solidFill>
                <a:latin typeface="Geologica Medium"/>
              </a:rPr>
              <a:t>Зовнішній HR-партнер</a:t>
            </a:r>
          </a:p>
        </p:txBody>
      </p:sp>
      <p:sp>
        <p:nvSpPr>
          <p:cNvPr id="20" name="s5-band3-text"/>
          <p:cNvSpPr txBox="1"/>
          <p:nvPr/>
        </p:nvSpPr>
        <p:spPr>
          <a:xfrm>
            <a:off x="5029200" y="4190999"/>
            <a:ext cx="64008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707787"/>
                </a:solidFill>
                <a:latin typeface="Onest Light"/>
              </a:rPr>
              <a:t>Для компаній з постійною потребою в наймі.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2000" y="5257800"/>
            <a:ext cx="1066800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2000" y="6324600"/>
            <a:ext cx="10668000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62000" y="5524500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clock-grap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76900"/>
            <a:ext cx="228600" cy="228600"/>
          </a:xfrm>
          <a:prstGeom prst="rect">
            <a:avLst/>
          </a:prstGeom>
        </p:spPr>
      </p:pic>
      <p:sp>
        <p:nvSpPr>
          <p:cNvPr id="25" name="s5-band4-name"/>
          <p:cNvSpPr txBox="1"/>
          <p:nvPr/>
        </p:nvSpPr>
        <p:spPr>
          <a:xfrm>
            <a:off x="1543050" y="5257800"/>
            <a:ext cx="32385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94050"/>
                </a:solidFill>
                <a:latin typeface="Geologica Medium"/>
              </a:rPr>
              <a:t>Терміновий підбір</a:t>
            </a:r>
          </a:p>
        </p:txBody>
      </p:sp>
      <p:sp>
        <p:nvSpPr>
          <p:cNvPr id="26" name="s5-band4-text"/>
          <p:cNvSpPr txBox="1"/>
          <p:nvPr/>
        </p:nvSpPr>
        <p:spPr>
          <a:xfrm>
            <a:off x="5029200" y="5257800"/>
            <a:ext cx="64008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707787"/>
                </a:solidFill>
                <a:latin typeface="Onest Light"/>
              </a:rPr>
              <a:t>Коли вакансія горить, до 21 дня від заявки до оферу.</a:t>
            </a:r>
          </a:p>
        </p:txBody>
      </p:sp>
      <p:pic>
        <p:nvPicPr>
          <p:cNvPr id="27" name="Picture 26" descr="brand-horizontal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6505575"/>
            <a:ext cx="704014" cy="209550"/>
          </a:xfrm>
          <a:prstGeom prst="rect">
            <a:avLst/>
          </a:prstGeom>
        </p:spPr>
      </p:pic>
      <p:sp>
        <p:nvSpPr>
          <p:cNvPr id="28" name="footer-page-num"/>
          <p:cNvSpPr txBox="1"/>
          <p:nvPr/>
        </p:nvSpPr>
        <p:spPr>
          <a:xfrm>
            <a:off x="8572500" y="636270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6-title"/>
          <p:cNvSpPr txBox="1"/>
          <p:nvPr/>
        </p:nvSpPr>
        <p:spPr>
          <a:xfrm>
            <a:off x="762000" y="381000"/>
            <a:ext cx="106680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cap="all">
                <a:solidFill>
                  <a:srgbClr val="EBEAE8"/>
                </a:solidFill>
                <a:latin typeface="Geologica Medium"/>
              </a:rPr>
              <a:t>Класичний рекрутинг</a:t>
            </a:r>
          </a:p>
        </p:txBody>
      </p:sp>
      <p:cxnSp>
        <p:nvCxnSpPr>
          <p:cNvPr id="4" name="s6-rule"/>
          <p:cNvCxnSpPr/>
          <p:nvPr/>
        </p:nvCxnSpPr>
        <p:spPr>
          <a:xfrm>
            <a:off x="762000" y="876300"/>
            <a:ext cx="10668000" cy="0"/>
          </a:xfrm>
          <a:prstGeom prst="line">
            <a:avLst/>
          </a:prstGeom>
          <a:ln w="19050">
            <a:solidFill>
              <a:srgbClr val="DEA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6-subtitle"/>
          <p:cNvSpPr txBox="1"/>
          <p:nvPr/>
        </p:nvSpPr>
        <p:spPr>
          <a:xfrm>
            <a:off x="762000" y="1047749"/>
            <a:ext cx="1066800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A102"/>
                </a:solidFill>
                <a:latin typeface="Onest Medium"/>
              </a:rPr>
              <a:t>Швидко, прозоро та з гарантією. </a:t>
            </a:r>
            <a:r>
              <a:rPr sz="1200" b="0">
                <a:solidFill>
                  <a:srgbClr val="EBEAE8"/>
                </a:solidFill>
                <a:latin typeface="Onest Light"/>
              </a:rPr>
              <a:t>Офісні, комерційні та управлінські вакансії.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BEAE8"/>
                </a:solidFill>
                <a:latin typeface="Onest Light"/>
              </a:rPr>
              <a:t>Беремо процес підбору на себе — від уточнення вакансії до виходу кандидата.</a:t>
            </a:r>
          </a:p>
        </p:txBody>
      </p:sp>
      <p:sp>
        <p:nvSpPr>
          <p:cNvPr id="6" name="s6-card-01"/>
          <p:cNvSpPr/>
          <p:nvPr/>
        </p:nvSpPr>
        <p:spPr>
          <a:xfrm>
            <a:off x="762000" y="159067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envelope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57375"/>
            <a:ext cx="381000" cy="381000"/>
          </a:xfrm>
          <a:prstGeom prst="rect">
            <a:avLst/>
          </a:prstGeom>
        </p:spPr>
      </p:pic>
      <p:sp>
        <p:nvSpPr>
          <p:cNvPr id="8" name="s6-card-01-number"/>
          <p:cNvSpPr txBox="1"/>
          <p:nvPr/>
        </p:nvSpPr>
        <p:spPr>
          <a:xfrm>
            <a:off x="1028700" y="185737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01</a:t>
            </a:r>
          </a:p>
        </p:txBody>
      </p:sp>
      <p:sp>
        <p:nvSpPr>
          <p:cNvPr id="9" name="s6-card-01-name"/>
          <p:cNvSpPr txBox="1"/>
          <p:nvPr/>
        </p:nvSpPr>
        <p:spPr>
          <a:xfrm>
            <a:off x="1028700" y="244792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Заявка</a:t>
            </a:r>
          </a:p>
        </p:txBody>
      </p:sp>
      <p:sp>
        <p:nvSpPr>
          <p:cNvPr id="10" name="s6-card-02"/>
          <p:cNvSpPr/>
          <p:nvPr/>
        </p:nvSpPr>
        <p:spPr>
          <a:xfrm>
            <a:off x="3476625" y="159067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clipboard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325" y="1857375"/>
            <a:ext cx="381000" cy="381000"/>
          </a:xfrm>
          <a:prstGeom prst="rect">
            <a:avLst/>
          </a:prstGeom>
        </p:spPr>
      </p:pic>
      <p:sp>
        <p:nvSpPr>
          <p:cNvPr id="12" name="s6-card-02-number"/>
          <p:cNvSpPr txBox="1"/>
          <p:nvPr/>
        </p:nvSpPr>
        <p:spPr>
          <a:xfrm>
            <a:off x="3743325" y="185737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02</a:t>
            </a:r>
          </a:p>
        </p:txBody>
      </p:sp>
      <p:sp>
        <p:nvSpPr>
          <p:cNvPr id="13" name="s6-card-02-name"/>
          <p:cNvSpPr txBox="1"/>
          <p:nvPr/>
        </p:nvSpPr>
        <p:spPr>
          <a:xfrm>
            <a:off x="3743325" y="244792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Бриф</a:t>
            </a:r>
          </a:p>
        </p:txBody>
      </p:sp>
      <p:sp>
        <p:nvSpPr>
          <p:cNvPr id="14" name="s6-card-03"/>
          <p:cNvSpPr/>
          <p:nvPr/>
        </p:nvSpPr>
        <p:spPr>
          <a:xfrm>
            <a:off x="6191250" y="159067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search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857375"/>
            <a:ext cx="381000" cy="381000"/>
          </a:xfrm>
          <a:prstGeom prst="rect">
            <a:avLst/>
          </a:prstGeom>
        </p:spPr>
      </p:pic>
      <p:sp>
        <p:nvSpPr>
          <p:cNvPr id="16" name="s6-card-03-number"/>
          <p:cNvSpPr txBox="1"/>
          <p:nvPr/>
        </p:nvSpPr>
        <p:spPr>
          <a:xfrm>
            <a:off x="6457950" y="185737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03</a:t>
            </a:r>
          </a:p>
        </p:txBody>
      </p:sp>
      <p:sp>
        <p:nvSpPr>
          <p:cNvPr id="17" name="s6-card-03-name"/>
          <p:cNvSpPr txBox="1"/>
          <p:nvPr/>
        </p:nvSpPr>
        <p:spPr>
          <a:xfrm>
            <a:off x="6457950" y="244792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Пошук і первинний відбір</a:t>
            </a:r>
          </a:p>
        </p:txBody>
      </p:sp>
      <p:sp>
        <p:nvSpPr>
          <p:cNvPr id="18" name="s6-card-04"/>
          <p:cNvSpPr/>
          <p:nvPr/>
        </p:nvSpPr>
        <p:spPr>
          <a:xfrm>
            <a:off x="8905875" y="159067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hat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2575" y="1857375"/>
            <a:ext cx="381000" cy="381000"/>
          </a:xfrm>
          <a:prstGeom prst="rect">
            <a:avLst/>
          </a:prstGeom>
        </p:spPr>
      </p:pic>
      <p:sp>
        <p:nvSpPr>
          <p:cNvPr id="20" name="s6-card-04-number"/>
          <p:cNvSpPr txBox="1"/>
          <p:nvPr/>
        </p:nvSpPr>
        <p:spPr>
          <a:xfrm>
            <a:off x="9172575" y="185737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04</a:t>
            </a:r>
          </a:p>
        </p:txBody>
      </p:sp>
      <p:sp>
        <p:nvSpPr>
          <p:cNvPr id="21" name="s6-card-04-name"/>
          <p:cNvSpPr txBox="1"/>
          <p:nvPr/>
        </p:nvSpPr>
        <p:spPr>
          <a:xfrm>
            <a:off x="9172575" y="244792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Інтерв'ю / скринінг</a:t>
            </a:r>
          </a:p>
        </p:txBody>
      </p:sp>
      <p:sp>
        <p:nvSpPr>
          <p:cNvPr id="22" name="s6-card-05"/>
          <p:cNvSpPr/>
          <p:nvPr/>
        </p:nvSpPr>
        <p:spPr>
          <a:xfrm>
            <a:off x="762000" y="359092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people-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3857625"/>
            <a:ext cx="381000" cy="381000"/>
          </a:xfrm>
          <a:prstGeom prst="rect">
            <a:avLst/>
          </a:prstGeom>
        </p:spPr>
      </p:pic>
      <p:sp>
        <p:nvSpPr>
          <p:cNvPr id="24" name="s6-card-05-number"/>
          <p:cNvSpPr txBox="1"/>
          <p:nvPr/>
        </p:nvSpPr>
        <p:spPr>
          <a:xfrm>
            <a:off x="1028700" y="385762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05</a:t>
            </a:r>
          </a:p>
        </p:txBody>
      </p:sp>
      <p:sp>
        <p:nvSpPr>
          <p:cNvPr id="25" name="s6-card-05-name"/>
          <p:cNvSpPr txBox="1"/>
          <p:nvPr/>
        </p:nvSpPr>
        <p:spPr>
          <a:xfrm>
            <a:off x="1028700" y="444817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Фіналісти для клієнта</a:t>
            </a:r>
          </a:p>
        </p:txBody>
      </p:sp>
      <p:sp>
        <p:nvSpPr>
          <p:cNvPr id="26" name="s6-card-06"/>
          <p:cNvSpPr/>
          <p:nvPr/>
        </p:nvSpPr>
        <p:spPr>
          <a:xfrm>
            <a:off x="3476625" y="359092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checkmark-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3325" y="3857625"/>
            <a:ext cx="381000" cy="381000"/>
          </a:xfrm>
          <a:prstGeom prst="rect">
            <a:avLst/>
          </a:prstGeom>
        </p:spPr>
      </p:pic>
      <p:sp>
        <p:nvSpPr>
          <p:cNvPr id="28" name="s6-card-06-number"/>
          <p:cNvSpPr txBox="1"/>
          <p:nvPr/>
        </p:nvSpPr>
        <p:spPr>
          <a:xfrm>
            <a:off x="3743325" y="385762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06</a:t>
            </a:r>
          </a:p>
        </p:txBody>
      </p:sp>
      <p:sp>
        <p:nvSpPr>
          <p:cNvPr id="29" name="s6-card-06-name"/>
          <p:cNvSpPr txBox="1"/>
          <p:nvPr/>
        </p:nvSpPr>
        <p:spPr>
          <a:xfrm>
            <a:off x="3743325" y="444817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Співбесіда</a:t>
            </a:r>
          </a:p>
        </p:txBody>
      </p:sp>
      <p:sp>
        <p:nvSpPr>
          <p:cNvPr id="30" name="s6-card-07"/>
          <p:cNvSpPr/>
          <p:nvPr/>
        </p:nvSpPr>
        <p:spPr>
          <a:xfrm>
            <a:off x="6191250" y="359092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document-check-amb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950" y="3857625"/>
            <a:ext cx="381000" cy="381000"/>
          </a:xfrm>
          <a:prstGeom prst="rect">
            <a:avLst/>
          </a:prstGeom>
        </p:spPr>
      </p:pic>
      <p:sp>
        <p:nvSpPr>
          <p:cNvPr id="32" name="s6-card-07-number"/>
          <p:cNvSpPr txBox="1"/>
          <p:nvPr/>
        </p:nvSpPr>
        <p:spPr>
          <a:xfrm>
            <a:off x="6457950" y="385762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07</a:t>
            </a:r>
          </a:p>
        </p:txBody>
      </p:sp>
      <p:sp>
        <p:nvSpPr>
          <p:cNvPr id="33" name="s6-card-07-name"/>
          <p:cNvSpPr txBox="1"/>
          <p:nvPr/>
        </p:nvSpPr>
        <p:spPr>
          <a:xfrm>
            <a:off x="6457950" y="444817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Вихід кандидата</a:t>
            </a:r>
          </a:p>
        </p:txBody>
      </p:sp>
      <p:sp>
        <p:nvSpPr>
          <p:cNvPr id="34" name="s6-card-08"/>
          <p:cNvSpPr/>
          <p:nvPr/>
        </p:nvSpPr>
        <p:spPr>
          <a:xfrm>
            <a:off x="8905875" y="3590925"/>
            <a:ext cx="2524125" cy="1809750"/>
          </a:xfrm>
          <a:prstGeom prst="roundRect">
            <a:avLst>
              <a:gd name="adj" fmla="val 6315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shield-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2575" y="3857625"/>
            <a:ext cx="381000" cy="381000"/>
          </a:xfrm>
          <a:prstGeom prst="rect">
            <a:avLst/>
          </a:prstGeom>
        </p:spPr>
      </p:pic>
      <p:sp>
        <p:nvSpPr>
          <p:cNvPr id="36" name="s6-card-08-number"/>
          <p:cNvSpPr txBox="1"/>
          <p:nvPr/>
        </p:nvSpPr>
        <p:spPr>
          <a:xfrm>
            <a:off x="9172575" y="3857625"/>
            <a:ext cx="1990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DEA102"/>
                </a:solidFill>
                <a:latin typeface="Geologica Medium"/>
              </a:rPr>
              <a:t>08</a:t>
            </a:r>
          </a:p>
        </p:txBody>
      </p:sp>
      <p:sp>
        <p:nvSpPr>
          <p:cNvPr id="37" name="s6-card-08-name"/>
          <p:cNvSpPr txBox="1"/>
          <p:nvPr/>
        </p:nvSpPr>
        <p:spPr>
          <a:xfrm>
            <a:off x="9172575" y="4448175"/>
            <a:ext cx="1990725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EBEAE8"/>
                </a:solidFill>
                <a:latin typeface="Onest Regular"/>
              </a:rPr>
              <a:t>Гарантійний супровід</a:t>
            </a:r>
          </a:p>
        </p:txBody>
      </p:sp>
      <p:sp>
        <p:nvSpPr>
          <p:cNvPr id="38" name="s6-wide-card"/>
          <p:cNvSpPr/>
          <p:nvPr/>
        </p:nvSpPr>
        <p:spPr>
          <a:xfrm>
            <a:off x="762000" y="5629275"/>
            <a:ext cx="10668000" cy="619125"/>
          </a:xfrm>
          <a:prstGeom prst="roundRect">
            <a:avLst>
              <a:gd name="adj" fmla="val 18461"/>
            </a:avLst>
          </a:prstGeom>
          <a:solidFill>
            <a:srgbClr val="EBEAE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62000" y="6248400"/>
            <a:ext cx="10668000" cy="0"/>
          </a:xfrm>
          <a:prstGeom prst="line">
            <a:avLst/>
          </a:prstGeom>
          <a:ln w="19050">
            <a:solidFill>
              <a:srgbClr val="DEA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6-wide-card-text"/>
          <p:cNvSpPr txBox="1"/>
          <p:nvPr/>
        </p:nvSpPr>
        <p:spPr>
          <a:xfrm>
            <a:off x="762000" y="5629275"/>
            <a:ext cx="10668000" cy="6191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EBEAE8"/>
                </a:solidFill>
                <a:latin typeface="Onest Regular"/>
              </a:rPr>
              <a:t>Ви витрачаєте час лише на співбесіди з кандидатами, які вже пройшли наш відбір.</a:t>
            </a:r>
          </a:p>
        </p:txBody>
      </p:sp>
      <p:pic>
        <p:nvPicPr>
          <p:cNvPr id="41" name="Picture 40" descr="brand-horizontal-l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6505575"/>
            <a:ext cx="704014" cy="209550"/>
          </a:xfrm>
          <a:prstGeom prst="rect">
            <a:avLst/>
          </a:prstGeom>
        </p:spPr>
      </p:pic>
      <p:sp>
        <p:nvSpPr>
          <p:cNvPr id="42" name="footer-page-num"/>
          <p:cNvSpPr txBox="1"/>
          <p:nvPr/>
        </p:nvSpPr>
        <p:spPr>
          <a:xfrm>
            <a:off x="8572500" y="636270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7-right-panel"/>
          <p:cNvSpPr/>
          <p:nvPr/>
        </p:nvSpPr>
        <p:spPr>
          <a:xfrm>
            <a:off x="6096000" y="2095499"/>
            <a:ext cx="6096000" cy="4267200"/>
          </a:xfrm>
          <a:prstGeom prst="rect">
            <a:avLst/>
          </a:prstGeom>
          <a:solidFill>
            <a:srgbClr val="394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096000" y="2095499"/>
            <a:ext cx="0" cy="4267201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7-pill-header"/>
          <p:cNvSpPr/>
          <p:nvPr/>
        </p:nvSpPr>
        <p:spPr>
          <a:xfrm>
            <a:off x="762000" y="609600"/>
            <a:ext cx="1809750" cy="3143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07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8097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100">
                <a:solidFill>
                  <a:srgbClr val="707787"/>
                </a:solidFill>
                <a:latin typeface="Onest Regular"/>
              </a:rPr>
              <a:t>Додаткові сервіси</a:t>
            </a:r>
          </a:p>
        </p:txBody>
      </p:sp>
      <p:sp>
        <p:nvSpPr>
          <p:cNvPr id="7" name="s7-title"/>
          <p:cNvSpPr txBox="1"/>
          <p:nvPr/>
        </p:nvSpPr>
        <p:spPr>
          <a:xfrm>
            <a:off x="762000" y="1095375"/>
            <a:ext cx="857250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cap="all">
                <a:solidFill>
                  <a:srgbClr val="394050"/>
                </a:solidFill>
                <a:latin typeface="Geologica Medium"/>
              </a:rPr>
              <a:t>Додаткові сервіси за бажанням замовника</a:t>
            </a:r>
          </a:p>
        </p:txBody>
      </p:sp>
      <p:sp>
        <p:nvSpPr>
          <p:cNvPr id="8" name="s7-left-pill"/>
          <p:cNvSpPr/>
          <p:nvPr/>
        </p:nvSpPr>
        <p:spPr>
          <a:xfrm>
            <a:off x="762000" y="2476500"/>
            <a:ext cx="1428750" cy="3143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07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76500"/>
            <a:ext cx="14287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100">
                <a:solidFill>
                  <a:srgbClr val="707787"/>
                </a:solidFill>
                <a:latin typeface="Onest Regular"/>
              </a:rPr>
              <a:t>Безкоштовні</a:t>
            </a:r>
          </a:p>
        </p:txBody>
      </p:sp>
      <p:pic>
        <p:nvPicPr>
          <p:cNvPr id="10" name="Picture 9" descr="icon-checkmark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00375"/>
            <a:ext cx="190500" cy="190500"/>
          </a:xfrm>
          <a:prstGeom prst="rect">
            <a:avLst/>
          </a:prstGeom>
        </p:spPr>
      </p:pic>
      <p:sp>
        <p:nvSpPr>
          <p:cNvPr id="11" name="s7-left-item1"/>
          <p:cNvSpPr txBox="1"/>
          <p:nvPr/>
        </p:nvSpPr>
        <p:spPr>
          <a:xfrm>
            <a:off x="1066800" y="3000375"/>
            <a:ext cx="4076699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Onest Light"/>
              </a:rPr>
              <a:t>Організація поліграфу</a:t>
            </a:r>
          </a:p>
        </p:txBody>
      </p:sp>
      <p:pic>
        <p:nvPicPr>
          <p:cNvPr id="12" name="Picture 11" descr="icon-checkmark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62325"/>
            <a:ext cx="190500" cy="190500"/>
          </a:xfrm>
          <a:prstGeom prst="rect">
            <a:avLst/>
          </a:prstGeom>
        </p:spPr>
      </p:pic>
      <p:sp>
        <p:nvSpPr>
          <p:cNvPr id="13" name="s7-left-item2"/>
          <p:cNvSpPr txBox="1"/>
          <p:nvPr/>
        </p:nvSpPr>
        <p:spPr>
          <a:xfrm>
            <a:off x="1066800" y="3362325"/>
            <a:ext cx="4076699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Onest Light"/>
              </a:rPr>
              <a:t>Перевірка рекомендацій</a:t>
            </a:r>
          </a:p>
        </p:txBody>
      </p:sp>
      <p:pic>
        <p:nvPicPr>
          <p:cNvPr id="14" name="Picture 13" descr="icon-checkmark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24275"/>
            <a:ext cx="190500" cy="190500"/>
          </a:xfrm>
          <a:prstGeom prst="rect">
            <a:avLst/>
          </a:prstGeom>
        </p:spPr>
      </p:pic>
      <p:sp>
        <p:nvSpPr>
          <p:cNvPr id="15" name="s7-left-item3"/>
          <p:cNvSpPr txBox="1"/>
          <p:nvPr/>
        </p:nvSpPr>
        <p:spPr>
          <a:xfrm>
            <a:off x="1066800" y="3724275"/>
            <a:ext cx="4076699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Onest Light"/>
              </a:rPr>
              <a:t>Допомога з підготовкою Job Offer</a:t>
            </a:r>
          </a:p>
        </p:txBody>
      </p:sp>
      <p:pic>
        <p:nvPicPr>
          <p:cNvPr id="16" name="Picture 15" descr="icon-checkmark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86225"/>
            <a:ext cx="190500" cy="190500"/>
          </a:xfrm>
          <a:prstGeom prst="rect">
            <a:avLst/>
          </a:prstGeom>
        </p:spPr>
      </p:pic>
      <p:sp>
        <p:nvSpPr>
          <p:cNvPr id="17" name="s7-left-item4"/>
          <p:cNvSpPr txBox="1"/>
          <p:nvPr/>
        </p:nvSpPr>
        <p:spPr>
          <a:xfrm>
            <a:off x="1066800" y="4086225"/>
            <a:ext cx="4076699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Onest Light"/>
              </a:rPr>
              <a:t>Аудит вакансії або оферу без запуску підбору</a:t>
            </a:r>
          </a:p>
        </p:txBody>
      </p:sp>
      <p:sp>
        <p:nvSpPr>
          <p:cNvPr id="18" name="s7-right-pill"/>
          <p:cNvSpPr/>
          <p:nvPr/>
        </p:nvSpPr>
        <p:spPr>
          <a:xfrm>
            <a:off x="6629400" y="2476500"/>
            <a:ext cx="1047749" cy="3143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B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476500"/>
            <a:ext cx="1047749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100">
                <a:solidFill>
                  <a:srgbClr val="EBEAE8"/>
                </a:solidFill>
                <a:latin typeface="Onest Regular"/>
              </a:rPr>
              <a:t>Платні</a:t>
            </a:r>
          </a:p>
        </p:txBody>
      </p:sp>
      <p:pic>
        <p:nvPicPr>
          <p:cNvPr id="20" name="Picture 19" descr="icon-check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000375"/>
            <a:ext cx="190500" cy="190500"/>
          </a:xfrm>
          <a:prstGeom prst="rect">
            <a:avLst/>
          </a:prstGeom>
        </p:spPr>
      </p:pic>
      <p:sp>
        <p:nvSpPr>
          <p:cNvPr id="21" name="s7-right-item1"/>
          <p:cNvSpPr txBox="1"/>
          <p:nvPr/>
        </p:nvSpPr>
        <p:spPr>
          <a:xfrm>
            <a:off x="6934200" y="3000375"/>
            <a:ext cx="4076699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EBEAE8"/>
                </a:solidFill>
                <a:latin typeface="Onest Light"/>
              </a:rPr>
              <a:t>Психологічне тестування</a:t>
            </a:r>
          </a:p>
        </p:txBody>
      </p:sp>
      <p:pic>
        <p:nvPicPr>
          <p:cNvPr id="22" name="Picture 21" descr="icon-checkmark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362325"/>
            <a:ext cx="190500" cy="190500"/>
          </a:xfrm>
          <a:prstGeom prst="rect">
            <a:avLst/>
          </a:prstGeom>
        </p:spPr>
      </p:pic>
      <p:sp>
        <p:nvSpPr>
          <p:cNvPr id="23" name="s7-right-item2"/>
          <p:cNvSpPr txBox="1"/>
          <p:nvPr/>
        </p:nvSpPr>
        <p:spPr>
          <a:xfrm>
            <a:off x="6934200" y="3362325"/>
            <a:ext cx="4076699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EBEAE8"/>
                </a:solidFill>
                <a:latin typeface="Onest Light"/>
              </a:rPr>
              <a:t>Організація конкурсу або асесменту</a:t>
            </a:r>
          </a:p>
        </p:txBody>
      </p:sp>
      <p:pic>
        <p:nvPicPr>
          <p:cNvPr id="24" name="Picture 23" descr="brand-horizontal-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505575"/>
            <a:ext cx="704014" cy="209550"/>
          </a:xfrm>
          <a:prstGeom prst="rect">
            <a:avLst/>
          </a:prstGeom>
        </p:spPr>
      </p:pic>
      <p:sp>
        <p:nvSpPr>
          <p:cNvPr id="25" name="footer-page-num"/>
          <p:cNvSpPr txBox="1"/>
          <p:nvPr/>
        </p:nvSpPr>
        <p:spPr>
          <a:xfrm>
            <a:off x="8572500" y="636270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8-pill-header"/>
          <p:cNvSpPr/>
          <p:nvPr/>
        </p:nvSpPr>
        <p:spPr>
          <a:xfrm>
            <a:off x="762000" y="609600"/>
            <a:ext cx="1428750" cy="3429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EA102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42875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cap="all" spc="80">
                <a:solidFill>
                  <a:srgbClr val="DEA102"/>
                </a:solidFill>
                <a:latin typeface="Onest Medium"/>
              </a:rPr>
              <a:t>Переваги</a:t>
            </a:r>
          </a:p>
        </p:txBody>
      </p:sp>
      <p:sp>
        <p:nvSpPr>
          <p:cNvPr id="5" name="s8-title"/>
          <p:cNvSpPr txBox="1"/>
          <p:nvPr/>
        </p:nvSpPr>
        <p:spPr>
          <a:xfrm>
            <a:off x="762000" y="1123950"/>
            <a:ext cx="6667500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cap="all">
                <a:solidFill>
                  <a:srgbClr val="394050"/>
                </a:solidFill>
                <a:latin typeface="Geologica Medium"/>
              </a:rPr>
              <a:t>Наші переваги</a:t>
            </a:r>
          </a:p>
        </p:txBody>
      </p:sp>
      <p:sp>
        <p:nvSpPr>
          <p:cNvPr id="6" name="s8-stat1-num"/>
          <p:cNvSpPr txBox="1"/>
          <p:nvPr/>
        </p:nvSpPr>
        <p:spPr>
          <a:xfrm>
            <a:off x="920734" y="180975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DEA102"/>
                </a:solidFill>
                <a:latin typeface="Geologica Medium"/>
              </a:rPr>
              <a:t>90%</a:t>
            </a:r>
          </a:p>
        </p:txBody>
      </p:sp>
      <p:sp>
        <p:nvSpPr>
          <p:cNvPr id="7" name="s8-stat1-cap"/>
          <p:cNvSpPr txBox="1"/>
          <p:nvPr/>
        </p:nvSpPr>
        <p:spPr>
          <a:xfrm>
            <a:off x="920734" y="238125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07787"/>
                </a:solidFill>
                <a:latin typeface="Onest Light"/>
              </a:rPr>
              <a:t>вакансій закриваються у погоджений термін</a:t>
            </a:r>
          </a:p>
        </p:txBody>
      </p:sp>
      <p:sp>
        <p:nvSpPr>
          <p:cNvPr id="8" name="s8-stat2-num"/>
          <p:cNvSpPr txBox="1"/>
          <p:nvPr/>
        </p:nvSpPr>
        <p:spPr>
          <a:xfrm>
            <a:off x="4476702" y="180975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DEA102"/>
                </a:solidFill>
                <a:latin typeface="Geologica Medium"/>
              </a:rPr>
              <a:t>10 000+</a:t>
            </a:r>
          </a:p>
        </p:txBody>
      </p:sp>
      <p:sp>
        <p:nvSpPr>
          <p:cNvPr id="9" name="s8-stat2-cap"/>
          <p:cNvSpPr txBox="1"/>
          <p:nvPr/>
        </p:nvSpPr>
        <p:spPr>
          <a:xfrm>
            <a:off x="4476702" y="238125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07787"/>
                </a:solidFill>
                <a:latin typeface="Onest Light"/>
              </a:rPr>
              <a:t>власна база кандидатів</a:t>
            </a:r>
          </a:p>
        </p:txBody>
      </p:sp>
      <p:sp>
        <p:nvSpPr>
          <p:cNvPr id="10" name="s8-stat3-num"/>
          <p:cNvSpPr txBox="1"/>
          <p:nvPr/>
        </p:nvSpPr>
        <p:spPr>
          <a:xfrm>
            <a:off x="8032670" y="180975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DEA102"/>
                </a:solidFill>
                <a:latin typeface="Geologica Medium"/>
              </a:rPr>
              <a:t>87%</a:t>
            </a:r>
          </a:p>
        </p:txBody>
      </p:sp>
      <p:sp>
        <p:nvSpPr>
          <p:cNvPr id="11" name="s8-stat3-cap"/>
          <p:cNvSpPr txBox="1"/>
          <p:nvPr/>
        </p:nvSpPr>
        <p:spPr>
          <a:xfrm>
            <a:off x="8032670" y="238125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07787"/>
                </a:solidFill>
                <a:latin typeface="Onest Light"/>
              </a:rPr>
              <a:t>кандидатів проходять гарантійний термін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17968" y="1866899"/>
            <a:ext cx="0" cy="838201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73936" y="1866899"/>
            <a:ext cx="0" cy="838201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05000" y="3900195"/>
            <a:ext cx="1197428" cy="214605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102428" y="3757126"/>
            <a:ext cx="1197429" cy="143069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99857" y="3685591"/>
            <a:ext cx="1197428" cy="71535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97285" y="3685591"/>
            <a:ext cx="1197429" cy="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94714" y="3685591"/>
            <a:ext cx="1197428" cy="71535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92142" y="3757126"/>
            <a:ext cx="1197429" cy="143069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89571" y="3900195"/>
            <a:ext cx="1197429" cy="214605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600200" y="3810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target-grap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3981450"/>
            <a:ext cx="266700" cy="266700"/>
          </a:xfrm>
          <a:prstGeom prst="rect">
            <a:avLst/>
          </a:prstGeom>
        </p:spPr>
      </p:pic>
      <p:sp>
        <p:nvSpPr>
          <p:cNvPr id="23" name="s8-node1"/>
          <p:cNvSpPr txBox="1"/>
          <p:nvPr/>
        </p:nvSpPr>
        <p:spPr>
          <a:xfrm>
            <a:off x="1190625" y="4514850"/>
            <a:ext cx="142875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Geologica Medium"/>
              </a:rPr>
              <a:t>Складні вакансії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707787"/>
                </a:solidFill>
                <a:latin typeface="Onest Light"/>
              </a:rPr>
              <a:t>Досвід закриття інженерно-технічних, технологічних і нестандартних позицій.</a:t>
            </a:r>
          </a:p>
        </p:txBody>
      </p:sp>
      <p:sp>
        <p:nvSpPr>
          <p:cNvPr id="24" name="Oval 23"/>
          <p:cNvSpPr/>
          <p:nvPr/>
        </p:nvSpPr>
        <p:spPr>
          <a:xfrm>
            <a:off x="4457700" y="352425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lightning-grap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3695700"/>
            <a:ext cx="266700" cy="266700"/>
          </a:xfrm>
          <a:prstGeom prst="rect">
            <a:avLst/>
          </a:prstGeom>
        </p:spPr>
      </p:pic>
      <p:sp>
        <p:nvSpPr>
          <p:cNvPr id="26" name="s8-node2"/>
          <p:cNvSpPr txBox="1"/>
          <p:nvPr/>
        </p:nvSpPr>
        <p:spPr>
          <a:xfrm>
            <a:off x="4048124" y="4229100"/>
            <a:ext cx="142875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Geologica Medium"/>
              </a:rPr>
              <a:t>Швидкий масовий підбір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707787"/>
                </a:solidFill>
                <a:latin typeface="Onest Light"/>
              </a:rPr>
              <a:t>Досвід швидкого закриття вакансій маспідбору.</a:t>
            </a:r>
          </a:p>
        </p:txBody>
      </p:sp>
      <p:sp>
        <p:nvSpPr>
          <p:cNvPr id="27" name="Oval 26"/>
          <p:cNvSpPr/>
          <p:nvPr/>
        </p:nvSpPr>
        <p:spPr>
          <a:xfrm>
            <a:off x="7124700" y="352425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database-grap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150" y="3695700"/>
            <a:ext cx="266700" cy="266700"/>
          </a:xfrm>
          <a:prstGeom prst="rect">
            <a:avLst/>
          </a:prstGeom>
        </p:spPr>
      </p:pic>
      <p:sp>
        <p:nvSpPr>
          <p:cNvPr id="29" name="s8-node3"/>
          <p:cNvSpPr txBox="1"/>
          <p:nvPr/>
        </p:nvSpPr>
        <p:spPr>
          <a:xfrm>
            <a:off x="6715125" y="4229100"/>
            <a:ext cx="142875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Geologica Medium"/>
              </a:rPr>
              <a:t>Власна база кандидатів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707787"/>
                </a:solidFill>
                <a:latin typeface="Onest Light"/>
              </a:rPr>
              <a:t>Напрацьована під галузь.</a:t>
            </a:r>
          </a:p>
        </p:txBody>
      </p:sp>
      <p:sp>
        <p:nvSpPr>
          <p:cNvPr id="30" name="Oval 29"/>
          <p:cNvSpPr/>
          <p:nvPr/>
        </p:nvSpPr>
        <p:spPr>
          <a:xfrm>
            <a:off x="9982200" y="3810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  <a:effectLst>
            <a:outerShdw blurRad="127000" dist="25400" dir="5400000" rotWithShape="0">
              <a:srgbClr val="39405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monitor-grap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650" y="3981450"/>
            <a:ext cx="266700" cy="266700"/>
          </a:xfrm>
          <a:prstGeom prst="rect">
            <a:avLst/>
          </a:prstGeom>
        </p:spPr>
      </p:pic>
      <p:sp>
        <p:nvSpPr>
          <p:cNvPr id="32" name="s8-node4"/>
          <p:cNvSpPr txBox="1"/>
          <p:nvPr/>
        </p:nvSpPr>
        <p:spPr>
          <a:xfrm>
            <a:off x="9572625" y="4514850"/>
            <a:ext cx="142875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394050"/>
                </a:solidFill>
                <a:latin typeface="Geologica Medium"/>
              </a:rPr>
              <a:t>Доступ до CRM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707787"/>
                </a:solidFill>
                <a:latin typeface="Onest Light"/>
              </a:rPr>
              <a:t>Замовник бачить процес підбору в нашій системі.</a:t>
            </a:r>
          </a:p>
        </p:txBody>
      </p:sp>
      <p:pic>
        <p:nvPicPr>
          <p:cNvPr id="33" name="Picture 32" descr="brand-horizontal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6505575"/>
            <a:ext cx="704014" cy="209550"/>
          </a:xfrm>
          <a:prstGeom prst="rect">
            <a:avLst/>
          </a:prstGeom>
        </p:spPr>
      </p:pic>
      <p:sp>
        <p:nvSpPr>
          <p:cNvPr id="34" name="footer-page-num"/>
          <p:cNvSpPr txBox="1"/>
          <p:nvPr/>
        </p:nvSpPr>
        <p:spPr>
          <a:xfrm>
            <a:off x="8572500" y="636270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9525">
            <a:solidFill>
              <a:srgbClr val="707787">
                <a:alpha val="6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9-heading"/>
          <p:cNvSpPr txBox="1"/>
          <p:nvPr/>
        </p:nvSpPr>
        <p:spPr>
          <a:xfrm>
            <a:off x="762000" y="2667000"/>
            <a:ext cx="5334000" cy="20954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EBEAE8"/>
                </a:solidFill>
                <a:latin typeface="Geologica Medium"/>
              </a:rPr>
              <a:t>Готові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EBEAE8"/>
                </a:solidFill>
                <a:latin typeface="Geologica"/>
              </a:rPr>
              <a:t>почати?</a:t>
            </a:r>
          </a:p>
        </p:txBody>
      </p:sp>
      <p:sp>
        <p:nvSpPr>
          <p:cNvPr id="5" name="s9-card-1"/>
          <p:cNvSpPr/>
          <p:nvPr/>
        </p:nvSpPr>
        <p:spPr>
          <a:xfrm>
            <a:off x="7277100" y="1576387"/>
            <a:ext cx="4343400" cy="2190750"/>
          </a:xfrm>
          <a:prstGeom prst="roundRect">
            <a:avLst>
              <a:gd name="adj" fmla="val 6086"/>
            </a:avLst>
          </a:prstGeom>
          <a:noFill/>
          <a:ln w="12700">
            <a:solidFill>
              <a:srgbClr val="A8AE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9-card1-pill"/>
          <p:cNvSpPr/>
          <p:nvPr/>
        </p:nvSpPr>
        <p:spPr>
          <a:xfrm>
            <a:off x="7562850" y="1824037"/>
            <a:ext cx="1428750" cy="3143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07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2850" y="1824037"/>
            <a:ext cx="14287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100">
                <a:solidFill>
                  <a:srgbClr val="A8AEBC"/>
                </a:solidFill>
                <a:latin typeface="Onest Regular"/>
              </a:rPr>
              <a:t>Співпраця</a:t>
            </a:r>
          </a:p>
        </p:txBody>
      </p:sp>
      <p:sp>
        <p:nvSpPr>
          <p:cNvPr id="8" name="s9-card1-field1"/>
          <p:cNvSpPr txBox="1"/>
          <p:nvPr/>
        </p:nvSpPr>
        <p:spPr>
          <a:xfrm>
            <a:off x="7562850" y="2309812"/>
            <a:ext cx="37719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BEAE8"/>
                </a:solidFill>
                <a:latin typeface="Geologica Medium"/>
              </a:rPr>
              <a:t>[Ім'я контактної особи]</a:t>
            </a:r>
          </a:p>
        </p:txBody>
      </p:sp>
      <p:sp>
        <p:nvSpPr>
          <p:cNvPr id="9" name="s9-card1-field2"/>
          <p:cNvSpPr txBox="1"/>
          <p:nvPr/>
        </p:nvSpPr>
        <p:spPr>
          <a:xfrm>
            <a:off x="7562850" y="2759392"/>
            <a:ext cx="37719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BEAE8"/>
                </a:solidFill>
                <a:latin typeface="Geologica Medium"/>
              </a:rPr>
              <a:t>[Телефон]</a:t>
            </a:r>
          </a:p>
        </p:txBody>
      </p:sp>
      <p:sp>
        <p:nvSpPr>
          <p:cNvPr id="10" name="s9-card1-field3"/>
          <p:cNvSpPr txBox="1"/>
          <p:nvPr/>
        </p:nvSpPr>
        <p:spPr>
          <a:xfrm>
            <a:off x="7562850" y="3208972"/>
            <a:ext cx="37719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BEAE8"/>
                </a:solidFill>
                <a:latin typeface="Geologica Medium"/>
              </a:rPr>
              <a:t>[E-mail]</a:t>
            </a:r>
          </a:p>
        </p:txBody>
      </p:sp>
      <p:sp>
        <p:nvSpPr>
          <p:cNvPr id="11" name="s9-card-2"/>
          <p:cNvSpPr/>
          <p:nvPr/>
        </p:nvSpPr>
        <p:spPr>
          <a:xfrm>
            <a:off x="7277100" y="3995737"/>
            <a:ext cx="4343400" cy="1285875"/>
          </a:xfrm>
          <a:prstGeom prst="roundRect">
            <a:avLst>
              <a:gd name="adj" fmla="val 10370"/>
            </a:avLst>
          </a:prstGeom>
          <a:noFill/>
          <a:ln w="12700">
            <a:solidFill>
              <a:srgbClr val="A8AEB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9-card2-pill"/>
          <p:cNvSpPr/>
          <p:nvPr/>
        </p:nvSpPr>
        <p:spPr>
          <a:xfrm>
            <a:off x="7562850" y="4243387"/>
            <a:ext cx="1047749" cy="31432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07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850" y="4243387"/>
            <a:ext cx="1047749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cap="all" spc="100">
                <a:solidFill>
                  <a:srgbClr val="A8AEBC"/>
                </a:solidFill>
                <a:latin typeface="Onest Regular"/>
              </a:rPr>
              <a:t>LinkedIn</a:t>
            </a:r>
          </a:p>
        </p:txBody>
      </p:sp>
      <p:sp>
        <p:nvSpPr>
          <p:cNvPr id="14" name="s9-card2-field"/>
          <p:cNvSpPr txBox="1"/>
          <p:nvPr/>
        </p:nvSpPr>
        <p:spPr>
          <a:xfrm>
            <a:off x="7562850" y="4729162"/>
            <a:ext cx="37719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BEAE8"/>
                </a:solidFill>
                <a:latin typeface="Geologica Medium"/>
              </a:rPr>
              <a:t>[Посилання]</a:t>
            </a:r>
          </a:p>
        </p:txBody>
      </p:sp>
      <p:pic>
        <p:nvPicPr>
          <p:cNvPr id="15" name="Picture 14" descr="brand-horizontal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6505575"/>
            <a:ext cx="704014" cy="209550"/>
          </a:xfrm>
          <a:prstGeom prst="rect">
            <a:avLst/>
          </a:prstGeom>
        </p:spPr>
      </p:pic>
      <p:sp>
        <p:nvSpPr>
          <p:cNvPr id="16" name="footer-page-num"/>
          <p:cNvSpPr txBox="1"/>
          <p:nvPr/>
        </p:nvSpPr>
        <p:spPr>
          <a:xfrm>
            <a:off x="8572500" y="6362700"/>
            <a:ext cx="3238500" cy="495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DEA102"/>
                </a:solidFill>
                <a:latin typeface="Geologica Medium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